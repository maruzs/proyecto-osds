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929038"/>
            <a:ext cx="4953000" cy="112767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801290"/>
            <a:ext cx="4953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Sistemas Distribuidos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248590"/>
            <a:ext cx="52008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Infraestructura Crítica de Salud Digital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60427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Simulación Híbrida mediante WebSockets y Replicación Lógica PostgreSQL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513858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Equipo de Arquitectura: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443388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Hernandez, Muñoz, Martinez, Paredes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843438"/>
            <a:ext cx="4953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9 de Junio,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9096375" y="285750"/>
            <a:ext cx="25242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RESILIENCIA &amp; DISPONIBILIDAD</a:t>
            </a:r>
            <a:endParaRPr b="1" sz="1050">
              <a:solidFill>
                <a:srgbClr val="0D948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571500"/>
            <a:ext cx="10668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DESAFÍO CRÍTICO Y OBJETIVOS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4"/>
          <p:cNvGrpSpPr/>
          <p:nvPr/>
        </p:nvGrpSpPr>
        <p:grpSpPr>
          <a:xfrm>
            <a:off x="571500" y="1524000"/>
            <a:ext cx="5334000" cy="4572000"/>
            <a:chOff x="571500" y="1524000"/>
            <a:chExt cx="5334000" cy="4572000"/>
          </a:xfrm>
        </p:grpSpPr>
        <p:sp>
          <p:nvSpPr>
            <p:cNvPr id="100" name="Google Shape;100;p14"/>
            <p:cNvSpPr/>
            <p:nvPr/>
          </p:nvSpPr>
          <p:spPr>
            <a:xfrm>
              <a:off x="571500" y="15240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571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FF1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762000" y="1524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Vectores de Falla (El Dolor)</a:t>
              </a:r>
              <a:endParaRPr b="1" sz="16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809625" y="2286000"/>
              <a:ext cx="4857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signal_cellular_connected_no_internet_4_bar</a:t>
              </a:r>
              <a:endParaRPr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Latencia WAN Crítica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Retrasos en acceso a Ficha Clínica Electrónica en zonas rurales.</a:t>
              </a:r>
              <a:endParaRPr sz="11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Puntos de Falla Únicos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Caídas en el Nodo Central paralizan la operación local hospitalaria.</a:t>
              </a:r>
              <a:endParaRPr sz="11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E11D4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gpp_maybe</a:t>
              </a:r>
              <a:endParaRPr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Vulnerabilidad de Red</a:t>
              </a:r>
              <a:endParaRPr b="1" sz="13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Exposición de puertos DB en internet pública sin cifrado robusto.</a:t>
              </a:r>
              <a:endParaRPr sz="11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05" name="Google Shape;105;p14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6477000" y="1524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Pilares de la Solución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524625" y="228600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Implementar un modelo de </a:t>
              </a:r>
              <a:r>
                <a:rPr b="1" lang="en-US" sz="13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Simulación Híbrida</a:t>
              </a: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que garantice: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6524625" y="29527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Disponibilidad 24/7:</a:t>
              </a:r>
              <a:endParaRPr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Operación offline con caché local.</a:t>
              </a:r>
              <a:endParaRPr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Consistencia Eventual:</a:t>
              </a:r>
              <a:endParaRPr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Replicación lógica PostgreSQL 16.</a:t>
              </a:r>
              <a:endParaRPr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Seguridad Zero-Trust:</a:t>
              </a:r>
              <a:endParaRPr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Túneles cifrados salientes.</a:t>
              </a:r>
              <a:endParaRPr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952500" y="476250"/>
            <a:ext cx="10668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TOPOLOGÍA DE RED HÍBRIDA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495300"/>
            <a:ext cx="76200" cy="571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5"/>
          <p:cNvGrpSpPr/>
          <p:nvPr/>
        </p:nvGrpSpPr>
        <p:grpSpPr>
          <a:xfrm>
            <a:off x="571500" y="1524000"/>
            <a:ext cx="3555900" cy="4572000"/>
            <a:chOff x="571500" y="1524000"/>
            <a:chExt cx="3555900" cy="4572000"/>
          </a:xfrm>
        </p:grpSpPr>
        <p:sp>
          <p:nvSpPr>
            <p:cNvPr id="117" name="Google Shape;117;p15"/>
            <p:cNvSpPr/>
            <p:nvPr/>
          </p:nvSpPr>
          <p:spPr>
            <a:xfrm>
              <a:off x="571500" y="1524000"/>
              <a:ext cx="3555900" cy="4572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571500" y="1524000"/>
              <a:ext cx="3555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85725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domain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333500" y="1619250"/>
              <a:ext cx="25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VM1: Hospital Local</a:t>
              </a:r>
              <a:endParaRPr b="1" sz="1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857250" y="2286000"/>
              <a:ext cx="2981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RED: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hospital_net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SERVICIOS: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Estaciones Médicas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PostgreSQL local (Local Node)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4317968" y="1524000"/>
            <a:ext cx="3555900" cy="4572000"/>
            <a:chOff x="4317968" y="1524000"/>
            <a:chExt cx="3555900" cy="4572000"/>
          </a:xfrm>
        </p:grpSpPr>
        <p:sp>
          <p:nvSpPr>
            <p:cNvPr id="123" name="Google Shape;123;p15"/>
            <p:cNvSpPr/>
            <p:nvPr/>
          </p:nvSpPr>
          <p:spPr>
            <a:xfrm>
              <a:off x="4317968" y="1524000"/>
              <a:ext cx="3555900" cy="4572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4317968" y="1524000"/>
              <a:ext cx="3555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4603718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5079968" y="1619250"/>
              <a:ext cx="25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VM2: Nube Central</a:t>
              </a:r>
              <a:endParaRPr b="1" sz="1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4603718" y="2286000"/>
              <a:ext cx="2981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RED: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cloud_net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SERVICIOS: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Terminales Administrativas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PostgreSQL central (Cloud Master)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8064437" y="1524000"/>
            <a:ext cx="3555900" cy="4572000"/>
            <a:chOff x="8064437" y="1524000"/>
            <a:chExt cx="3555900" cy="4572000"/>
          </a:xfrm>
        </p:grpSpPr>
        <p:sp>
          <p:nvSpPr>
            <p:cNvPr id="129" name="Google Shape;129;p15"/>
            <p:cNvSpPr/>
            <p:nvPr/>
          </p:nvSpPr>
          <p:spPr>
            <a:xfrm>
              <a:off x="8064437" y="1524000"/>
              <a:ext cx="3555900" cy="4572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8064437" y="1524000"/>
              <a:ext cx="3555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8350187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8826437" y="1619250"/>
              <a:ext cx="25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VM3: Gateway DMZ</a:t>
              </a:r>
              <a:endParaRPr b="1" sz="1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8350187" y="2286000"/>
              <a:ext cx="2981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RED: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dmz_net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SERVICIOS: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Nginx Reverse Proxy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Cloudflare Tunnel Daemon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6"/>
          <p:cNvGrpSpPr/>
          <p:nvPr/>
        </p:nvGrpSpPr>
        <p:grpSpPr>
          <a:xfrm>
            <a:off x="571500" y="1524000"/>
            <a:ext cx="5334000" cy="4572000"/>
            <a:chOff x="571500" y="1524000"/>
            <a:chExt cx="5334000" cy="4572000"/>
          </a:xfrm>
        </p:grpSpPr>
        <p:sp>
          <p:nvSpPr>
            <p:cNvPr id="139" name="Google Shape;139;p16"/>
            <p:cNvSpPr/>
            <p:nvPr/>
          </p:nvSpPr>
          <p:spPr>
            <a:xfrm>
              <a:off x="571500" y="15240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571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762000" y="1524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Configuración Nginx Hardening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857250" y="2286000"/>
              <a:ext cx="47625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Protección contra DoS y ocultación de infraestructura: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Manejo de WSS (WebSockets Secure) con terminación SSL en DMZ.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Políticas de rate limiting para mitigar ataques de denegación de servicio.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475569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Ocultación de cabeceras del servidor para evitar finger-printing.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SEGURIDAD PERIMETRAL Y DMZ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45" name="Google Shape;145;p16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6477000" y="1524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Cloudflare Zero Trust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6572250" y="2286000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Mapeo de </a:t>
              </a: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osdsp3.epistia.cl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mediante túnel de salida (</a:t>
              </a:r>
              <a:r>
                <a:rPr i="1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outbound only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).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No se abren puertos 80/443 en el firewall de GCP, mitigando escaneos masivos de IPs.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49" name="Google Shape;149;p16"/>
            <p:cNvPicPr preferRelativeResize="0"/>
            <p:nvPr/>
          </p:nvPicPr>
          <p:blipFill rotWithShape="1">
            <a:blip r:embed="rId4">
              <a:alphaModFix/>
            </a:blip>
            <a:srcRect b="0" l="10821" r="10821" t="0"/>
            <a:stretch/>
          </p:blipFill>
          <p:spPr>
            <a:xfrm>
              <a:off x="6572250" y="3810000"/>
              <a:ext cx="4762500" cy="2000100"/>
            </a:xfrm>
            <a:prstGeom prst="roundRect">
              <a:avLst>
                <a:gd fmla="val 5714" name="adj"/>
              </a:avLst>
            </a:prstGeom>
            <a:noFill/>
            <a:ln>
              <a:noFill/>
            </a:ln>
          </p:spPr>
        </p:pic>
      </p:grpSp>
      <p:sp>
        <p:nvSpPr>
          <p:cNvPr id="150" name="Google Shape;150;p16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571500" y="571500"/>
            <a:ext cx="10858500" cy="600000"/>
            <a:chOff x="571500" y="571500"/>
            <a:chExt cx="10858500" cy="600000"/>
          </a:xfrm>
        </p:grpSpPr>
        <p:sp>
          <p:nvSpPr>
            <p:cNvPr id="156" name="Google Shape;156;p17"/>
            <p:cNvSpPr/>
            <p:nvPr/>
          </p:nvSpPr>
          <p:spPr>
            <a:xfrm>
              <a:off x="571500" y="571500"/>
              <a:ext cx="57300" cy="6000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762000" y="571500"/>
              <a:ext cx="106680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SIMULACIÓN REAL-TIME </a:t>
              </a:r>
              <a:r>
                <a:rPr b="1" lang="en-US" sz="315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(WEBSOCKETS)</a:t>
              </a:r>
              <a:endParaRPr b="1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571500" y="1524000"/>
            <a:ext cx="5334000" cy="4572000"/>
            <a:chOff x="571500" y="1524000"/>
            <a:chExt cx="5334000" cy="4572000"/>
          </a:xfrm>
        </p:grpSpPr>
        <p:sp>
          <p:nvSpPr>
            <p:cNvPr id="159" name="Google Shape;159;p17"/>
            <p:cNvSpPr/>
            <p:nvPr/>
          </p:nvSpPr>
          <p:spPr>
            <a:xfrm>
              <a:off x="571500" y="1524000"/>
              <a:ext cx="5334000" cy="4572000"/>
            </a:xfrm>
            <a:prstGeom prst="roundRect">
              <a:avLst>
                <a:gd fmla="val 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857250" y="1809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Módulo Estaciones Médicas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857250" y="219075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Puerto: 8001 | Engine: Node.js + Socket.io v4.7.5</a:t>
              </a:r>
              <a:endParaRPr b="0" sz="1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857250" y="266700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r>
                <a:rPr b="0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 Evento: consultar_paciente</a:t>
              </a:r>
              <a:endParaRPr b="0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r>
                <a:rPr b="0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 Evento: actualizar_diagnostico</a:t>
              </a:r>
              <a:endParaRPr b="0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857250" y="4572000"/>
              <a:ext cx="47625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857250" y="485775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Prioriza la persistencia en el Nodo Local antes de emitir el broadcast global para asegurar integridad.</a:t>
              </a:r>
              <a:endParaRPr b="0" i="1" sz="1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66" name="Google Shape;166;p17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fmla="val 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6572250" y="18097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Módulo Terminal Administrativa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6572250" y="219075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Puerto: 8002 | Seguridad: RBAC (Role-Based Access)</a:t>
              </a:r>
              <a:endParaRPr b="0" sz="1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6572250" y="266700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person_add</a:t>
              </a:r>
              <a:r>
                <a:rPr b="0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 Evento: admision_paciente</a:t>
              </a:r>
              <a:endParaRPr b="0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b="0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r>
                <a:rPr b="0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 Inyección de metadatos de auditoría</a:t>
              </a:r>
              <a:endParaRPr b="0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6572250" y="4572000"/>
              <a:ext cx="4762500" cy="96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6572250" y="485775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Validación de firma de origen y desinfección de RUT/Nombre en capa de aplicación antes de réplica.</a:t>
              </a:r>
              <a:endParaRPr b="0" i="1" sz="1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PERSISTENCIA Y CONSISTENCIA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8"/>
          <p:cNvGrpSpPr/>
          <p:nvPr/>
        </p:nvGrpSpPr>
        <p:grpSpPr>
          <a:xfrm>
            <a:off x="6286500" y="1524000"/>
            <a:ext cx="5334000" cy="4572000"/>
            <a:chOff x="6286500" y="1524000"/>
            <a:chExt cx="5334000" cy="4572000"/>
          </a:xfrm>
        </p:grpSpPr>
        <p:sp>
          <p:nvSpPr>
            <p:cNvPr id="179" name="Google Shape;179;p18"/>
            <p:cNvSpPr/>
            <p:nvPr/>
          </p:nvSpPr>
          <p:spPr>
            <a:xfrm>
              <a:off x="6286500" y="1524000"/>
              <a:ext cx="5334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6477000" y="1524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 </a:t>
              </a: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PostgreSQL 16: Logical Replication</a:t>
              </a:r>
              <a:endParaRPr sz="16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6572250" y="2286000"/>
              <a:ext cx="47625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Arquitectura Activo-Activo Híbrido</a:t>
              </a:r>
              <a:endParaRPr b="1" sz="14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 diferencia de la replicación física, la </a:t>
              </a:r>
              <a:r>
                <a:rPr b="1"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Replicación Lógica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permite escrituras concurrentes en múltiples nodos.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WAL Logical Level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Decodificación de transacciones a nivel de fila.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Replica Identity Full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Envío de valores previos para resolución de conflictos.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Filtros de Publicación</a:t>
              </a:r>
              <a:endParaRPr b="1" sz="12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Optimización de ancho de banda WAN.</a:t>
              </a:r>
              <a:endParaRPr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83" name="Google Shape;183;p18"/>
          <p:cNvPicPr preferRelativeResize="0"/>
          <p:nvPr/>
        </p:nvPicPr>
        <p:blipFill rotWithShape="1">
          <a:blip r:embed="rId3">
            <a:alphaModFix/>
          </a:blip>
          <a:srcRect b="7244" l="0" r="0" t="7235"/>
          <a:stretch/>
        </p:blipFill>
        <p:spPr>
          <a:xfrm>
            <a:off x="571500" y="1524000"/>
            <a:ext cx="5334000" cy="4572000"/>
          </a:xfrm>
          <a:prstGeom prst="roundRect">
            <a:avLst>
              <a:gd fmla="val 333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MITIGACIÓN DE BUCLES EN RÉPLICA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19"/>
          <p:cNvGrpSpPr/>
          <p:nvPr/>
        </p:nvGrpSpPr>
        <p:grpSpPr>
          <a:xfrm>
            <a:off x="571500" y="1524000"/>
            <a:ext cx="11049000" cy="3810000"/>
            <a:chOff x="571500" y="1524000"/>
            <a:chExt cx="11049000" cy="3810000"/>
          </a:xfrm>
        </p:grpSpPr>
        <p:sp>
          <p:nvSpPr>
            <p:cNvPr id="191" name="Google Shape;191;p19"/>
            <p:cNvSpPr/>
            <p:nvPr/>
          </p:nvSpPr>
          <p:spPr>
            <a:xfrm>
              <a:off x="571500" y="1524000"/>
              <a:ext cx="11049000" cy="3810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2" name="Google Shape;19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524000"/>
              <a:ext cx="8572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9"/>
            <p:cNvSpPr txBox="1"/>
            <p:nvPr/>
          </p:nvSpPr>
          <p:spPr>
            <a:xfrm>
              <a:off x="857250" y="1524000"/>
              <a:ext cx="1047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sync_disabled</a:t>
              </a:r>
              <a:r>
                <a:rPr b="1" lang="en-US" sz="18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Lógica Anti-Circular</a:t>
              </a:r>
              <a:endParaRPr b="1" sz="18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952500" y="2286000"/>
              <a:ext cx="4381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Para evitar que un cambio replicado se re-envíe al origen, se utilizan filtros de suscripción específicos: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Identificación del </a:t>
              </a:r>
              <a:r>
                <a:rPr b="1" lang="en-US" sz="14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origin</a:t>
              </a: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de la transacción.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Filtrado de entrada por metadatos de sesión.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400"/>
                <a:buFont typeface="Lato"/>
                <a:buChar char="●"/>
              </a:pPr>
              <a:r>
                <a:rPr lang="en-US" sz="14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Evita el consumo de recursos innecesario.</a:t>
              </a:r>
              <a:endParaRPr sz="14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95" name="Google Shape;195;p19"/>
            <p:cNvGrpSpPr/>
            <p:nvPr/>
          </p:nvGrpSpPr>
          <p:grpSpPr>
            <a:xfrm>
              <a:off x="5715000" y="2286000"/>
              <a:ext cx="4095750" cy="1762125"/>
              <a:chOff x="0" y="0"/>
              <a:chExt cx="4095750" cy="1762125"/>
            </a:xfrm>
          </p:grpSpPr>
          <p:sp>
            <p:nvSpPr>
              <p:cNvPr id="196" name="Google Shape;196;p19"/>
              <p:cNvSpPr/>
              <p:nvPr/>
            </p:nvSpPr>
            <p:spPr>
              <a:xfrm>
                <a:off x="0" y="0"/>
                <a:ext cx="17145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0D94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9"/>
              <p:cNvSpPr txBox="1"/>
              <p:nvPr/>
            </p:nvSpPr>
            <p:spPr>
              <a:xfrm>
                <a:off x="0" y="0"/>
                <a:ext cx="1714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NODO ORIGEN</a:t>
                </a:r>
                <a:endParaRPr b="1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(Transacción Local)</a:t>
                </a:r>
                <a:endParaRPr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198" name="Google Shape;19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714500" y="314325"/>
                <a:ext cx="762000" cy="13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p19"/>
              <p:cNvSpPr/>
              <p:nvPr/>
            </p:nvSpPr>
            <p:spPr>
              <a:xfrm>
                <a:off x="2381250" y="0"/>
                <a:ext cx="17145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9"/>
              <p:cNvSpPr txBox="1"/>
              <p:nvPr/>
            </p:nvSpPr>
            <p:spPr>
              <a:xfrm>
                <a:off x="2381250" y="0"/>
                <a:ext cx="1714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NODO DESTINO</a:t>
                </a:r>
                <a:endParaRPr b="1" sz="12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rPr>
                  <a:t>(Replica Ingerida)</a:t>
                </a:r>
                <a:endParaRPr sz="10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201" name="Google Shape;201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47725" y="762000"/>
                <a:ext cx="2400300" cy="581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" name="Google Shape;202;p19"/>
              <p:cNvSpPr/>
              <p:nvPr/>
            </p:nvSpPr>
            <p:spPr>
              <a:xfrm>
                <a:off x="714375" y="666750"/>
                <a:ext cx="285900" cy="2859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9"/>
              <p:cNvSpPr txBox="1"/>
              <p:nvPr/>
            </p:nvSpPr>
            <p:spPr>
              <a:xfrm>
                <a:off x="714375" y="687197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close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04" name="Google Shape;204;p19"/>
              <p:cNvSpPr txBox="1"/>
              <p:nvPr/>
            </p:nvSpPr>
            <p:spPr>
              <a:xfrm>
                <a:off x="1047750" y="1381125"/>
                <a:ext cx="2381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EF4444"/>
                    </a:solidFill>
                    <a:latin typeface="Lato"/>
                    <a:ea typeface="Lato"/>
                    <a:cs typeface="Lato"/>
                    <a:sym typeface="Lato"/>
                  </a:rPr>
                  <a:t>BLOQUEO: origin == local_id</a:t>
                </a:r>
                <a:endParaRPr b="1" sz="1100">
                  <a:solidFill>
                    <a:srgbClr val="EF4444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05" name="Google Shape;205;p19"/>
            <p:cNvSpPr/>
            <p:nvPr/>
          </p:nvSpPr>
          <p:spPr>
            <a:xfrm>
              <a:off x="857250" y="4667250"/>
              <a:ext cx="104775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857250" y="4857750"/>
              <a:ext cx="1047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Se rompe el ciclo de replicación infinito mediante la discriminación del </a:t>
              </a:r>
              <a:r>
                <a:rPr b="1" i="0" lang="en-US" sz="12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'origin'</a:t>
              </a:r>
              <a:r>
                <a:rPr i="1" lang="en-US" sz="12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 de la transacción.</a:t>
              </a:r>
              <a:endParaRPr i="1"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62000" y="571500"/>
            <a:ext cx="10858500" cy="4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VALIDACIÓN: OPERACIÓN NORMAL</a:t>
            </a:r>
            <a:endParaRPr b="1" sz="31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571500" y="1714500"/>
            <a:ext cx="2571900" cy="2857500"/>
            <a:chOff x="571500" y="1714500"/>
            <a:chExt cx="2571900" cy="2857500"/>
          </a:xfrm>
        </p:grpSpPr>
        <p:sp>
          <p:nvSpPr>
            <p:cNvPr id="214" name="Google Shape;214;p20"/>
            <p:cNvSpPr/>
            <p:nvPr/>
          </p:nvSpPr>
          <p:spPr>
            <a:xfrm>
              <a:off x="571500" y="1714500"/>
              <a:ext cx="2571900" cy="2857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571500" y="1714500"/>
              <a:ext cx="2571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571500" y="2000250"/>
              <a:ext cx="25719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571500" y="1749552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person_add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762000" y="23812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01. Admisión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762000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Administrativo ingresa paciente en </a:t>
              </a: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Nodo Cloud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(origen_registro='nube')</a:t>
              </a:r>
              <a:endParaRPr i="1"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3333750" y="1714500"/>
            <a:ext cx="2571900" cy="2857500"/>
            <a:chOff x="3333750" y="1714500"/>
            <a:chExt cx="2571900" cy="2857500"/>
          </a:xfrm>
        </p:grpSpPr>
        <p:sp>
          <p:nvSpPr>
            <p:cNvPr id="221" name="Google Shape;221;p20"/>
            <p:cNvSpPr/>
            <p:nvPr/>
          </p:nvSpPr>
          <p:spPr>
            <a:xfrm>
              <a:off x="3333750" y="1714500"/>
              <a:ext cx="2571900" cy="2857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3333750" y="1714500"/>
              <a:ext cx="2571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3333750" y="2000250"/>
              <a:ext cx="25719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3333750" y="1749552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3524250" y="23812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02. Propagación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3524250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WebSocket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emite evento global.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Respuesta estimada: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&lt; 50ms</a:t>
              </a:r>
              <a:endParaRPr b="1" sz="18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6096000" y="1714500"/>
            <a:ext cx="2571900" cy="2857500"/>
            <a:chOff x="6096000" y="1714500"/>
            <a:chExt cx="2571900" cy="2857500"/>
          </a:xfrm>
        </p:grpSpPr>
        <p:sp>
          <p:nvSpPr>
            <p:cNvPr id="228" name="Google Shape;228;p20"/>
            <p:cNvSpPr/>
            <p:nvPr/>
          </p:nvSpPr>
          <p:spPr>
            <a:xfrm>
              <a:off x="6096000" y="1714500"/>
              <a:ext cx="2571900" cy="2857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6096000" y="1714500"/>
              <a:ext cx="2571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6096000" y="2000250"/>
              <a:ext cx="25719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6096000" y="1749552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6286500" y="23812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03. Sincronía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6286500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Worker Lógico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inserta registro en PostgreSQL del Hospital.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20"/>
          <p:cNvGrpSpPr/>
          <p:nvPr/>
        </p:nvGrpSpPr>
        <p:grpSpPr>
          <a:xfrm>
            <a:off x="8858250" y="1714500"/>
            <a:ext cx="2571900" cy="2857500"/>
            <a:chOff x="8858250" y="1714500"/>
            <a:chExt cx="2571900" cy="2857500"/>
          </a:xfrm>
        </p:grpSpPr>
        <p:sp>
          <p:nvSpPr>
            <p:cNvPr id="235" name="Google Shape;235;p20"/>
            <p:cNvSpPr/>
            <p:nvPr/>
          </p:nvSpPr>
          <p:spPr>
            <a:xfrm>
              <a:off x="8858250" y="1714500"/>
              <a:ext cx="2571900" cy="2857500"/>
            </a:xfrm>
            <a:prstGeom prst="roundRect">
              <a:avLst>
                <a:gd fmla="val 59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8858250" y="1714500"/>
              <a:ext cx="2571900" cy="571500"/>
            </a:xfrm>
            <a:prstGeom prst="roundRect">
              <a:avLst>
                <a:gd fmla="val 2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8858250" y="2000250"/>
              <a:ext cx="25719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8858250" y="1749552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medical_services</a:t>
              </a:r>
              <a:endParaRPr sz="2400">
                <a:solidFill>
                  <a:srgbClr val="0D94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9048750" y="23812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04. Consulta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9048750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Médico visualiza ficha y actualiza diagnóstico de forma </a:t>
              </a:r>
              <a:r>
                <a:rPr b="1" lang="en-US" sz="12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inmediata</a:t>
              </a:r>
              <a:r>
                <a:rPr lang="en-US" sz="12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41" name="Google Shape;241;p20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20"/>
          <p:cNvGrpSpPr/>
          <p:nvPr/>
        </p:nvGrpSpPr>
        <p:grpSpPr>
          <a:xfrm>
            <a:off x="571500" y="5143500"/>
            <a:ext cx="11049000" cy="762000"/>
            <a:chOff x="571500" y="5143500"/>
            <a:chExt cx="11049000" cy="762000"/>
          </a:xfrm>
        </p:grpSpPr>
        <p:sp>
          <p:nvSpPr>
            <p:cNvPr id="243" name="Google Shape;243;p20"/>
            <p:cNvSpPr/>
            <p:nvPr/>
          </p:nvSpPr>
          <p:spPr>
            <a:xfrm>
              <a:off x="571500" y="5143500"/>
              <a:ext cx="11049000" cy="762000"/>
            </a:xfrm>
            <a:prstGeom prst="roundRect">
              <a:avLst>
                <a:gd fmla="val 50000" name="adj"/>
              </a:avLst>
            </a:prstGeom>
            <a:solidFill>
              <a:srgbClr val="0D94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571500" y="514350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D94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en-US" sz="18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 RESULTADO: Coherencia total de datos en </a:t>
              </a:r>
              <a:r>
                <a:rPr b="1" lang="en-US" sz="1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&lt; 200ms</a:t>
              </a:r>
              <a:endParaRPr b="1" sz="18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VALIDACIÓN: RESILIENCIA WAN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21"/>
          <p:cNvGrpSpPr/>
          <p:nvPr/>
        </p:nvGrpSpPr>
        <p:grpSpPr>
          <a:xfrm>
            <a:off x="4124325" y="3514725"/>
            <a:ext cx="3933825" cy="19200"/>
            <a:chOff x="4124325" y="3514725"/>
            <a:chExt cx="3933825" cy="19200"/>
          </a:xfrm>
        </p:grpSpPr>
        <p:pic>
          <p:nvPicPr>
            <p:cNvPr id="252" name="Google Shape;25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24325" y="35147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7650" y="35147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4" name="Google Shape;254;p21"/>
          <p:cNvGrpSpPr/>
          <p:nvPr/>
        </p:nvGrpSpPr>
        <p:grpSpPr>
          <a:xfrm>
            <a:off x="571500" y="1714500"/>
            <a:ext cx="3552900" cy="3619500"/>
            <a:chOff x="571500" y="1714500"/>
            <a:chExt cx="3552900" cy="3619500"/>
          </a:xfrm>
        </p:grpSpPr>
        <p:sp>
          <p:nvSpPr>
            <p:cNvPr id="255" name="Google Shape;255;p21"/>
            <p:cNvSpPr/>
            <p:nvPr/>
          </p:nvSpPr>
          <p:spPr>
            <a:xfrm>
              <a:off x="571500" y="1714500"/>
              <a:ext cx="3552900" cy="3619500"/>
            </a:xfrm>
            <a:prstGeom prst="roundRect">
              <a:avLst>
                <a:gd fmla="val 428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21"/>
            <p:cNvPicPr preferRelativeResize="0"/>
            <p:nvPr/>
          </p:nvPicPr>
          <p:blipFill rotWithShape="1">
            <a:blip r:embed="rId4">
              <a:alphaModFix/>
            </a:blip>
            <a:srcRect b="28029" l="0" r="0" t="65"/>
            <a:stretch/>
          </p:blipFill>
          <p:spPr>
            <a:xfrm>
              <a:off x="571500" y="1714500"/>
              <a:ext cx="3552900" cy="1714500"/>
            </a:xfrm>
            <a:prstGeom prst="roundRect">
              <a:avLst>
                <a:gd fmla="val 8888" name="adj"/>
              </a:avLst>
            </a:prstGeom>
            <a:noFill/>
            <a:ln>
              <a:noFill/>
            </a:ln>
          </p:spPr>
        </p:pic>
        <p:sp>
          <p:nvSpPr>
            <p:cNvPr id="257" name="Google Shape;257;p21"/>
            <p:cNvSpPr/>
            <p:nvPr/>
          </p:nvSpPr>
          <p:spPr>
            <a:xfrm>
              <a:off x="571500" y="3143250"/>
              <a:ext cx="3552900" cy="2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 txBox="1"/>
            <p:nvPr/>
          </p:nvSpPr>
          <p:spPr>
            <a:xfrm>
              <a:off x="762000" y="3619500"/>
              <a:ext cx="31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01. Operación Nominal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762000" y="4095750"/>
              <a:ext cx="31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Enlace activo. Latencia mínima.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0" name="Google Shape;260;p21"/>
          <p:cNvGrpSpPr/>
          <p:nvPr/>
        </p:nvGrpSpPr>
        <p:grpSpPr>
          <a:xfrm>
            <a:off x="4314825" y="1714500"/>
            <a:ext cx="3552900" cy="3619500"/>
            <a:chOff x="4314825" y="1714500"/>
            <a:chExt cx="3552900" cy="3619500"/>
          </a:xfrm>
        </p:grpSpPr>
        <p:sp>
          <p:nvSpPr>
            <p:cNvPr id="261" name="Google Shape;261;p21"/>
            <p:cNvSpPr/>
            <p:nvPr/>
          </p:nvSpPr>
          <p:spPr>
            <a:xfrm>
              <a:off x="4314825" y="1714500"/>
              <a:ext cx="3552900" cy="3619500"/>
            </a:xfrm>
            <a:prstGeom prst="roundRect">
              <a:avLst>
                <a:gd fmla="val 428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2" name="Google Shape;262;p21"/>
            <p:cNvPicPr preferRelativeResize="0"/>
            <p:nvPr/>
          </p:nvPicPr>
          <p:blipFill rotWithShape="1">
            <a:blip r:embed="rId5">
              <a:alphaModFix/>
            </a:blip>
            <a:srcRect b="28029" l="0" r="0" t="65"/>
            <a:stretch/>
          </p:blipFill>
          <p:spPr>
            <a:xfrm>
              <a:off x="4314825" y="1714500"/>
              <a:ext cx="3552900" cy="1714500"/>
            </a:xfrm>
            <a:prstGeom prst="roundRect">
              <a:avLst>
                <a:gd fmla="val 8888" name="adj"/>
              </a:avLst>
            </a:prstGeom>
            <a:noFill/>
            <a:ln>
              <a:noFill/>
            </a:ln>
          </p:spPr>
        </p:pic>
        <p:sp>
          <p:nvSpPr>
            <p:cNvPr id="263" name="Google Shape;263;p21"/>
            <p:cNvSpPr/>
            <p:nvPr/>
          </p:nvSpPr>
          <p:spPr>
            <a:xfrm>
              <a:off x="4314825" y="3143250"/>
              <a:ext cx="3552900" cy="2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4505325" y="3619500"/>
              <a:ext cx="31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02. Caída de Enlace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21"/>
            <p:cNvSpPr txBox="1"/>
            <p:nvPr/>
          </p:nvSpPr>
          <p:spPr>
            <a:xfrm>
              <a:off x="4505325" y="4095750"/>
              <a:ext cx="31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Hospital sigue operando en local.</a:t>
              </a: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PostgreSQL encola cambios en el WAL.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6" name="Google Shape;266;p21"/>
          <p:cNvGrpSpPr/>
          <p:nvPr/>
        </p:nvGrpSpPr>
        <p:grpSpPr>
          <a:xfrm>
            <a:off x="8058150" y="1714500"/>
            <a:ext cx="3552900" cy="3619500"/>
            <a:chOff x="8058150" y="1714500"/>
            <a:chExt cx="3552900" cy="3619500"/>
          </a:xfrm>
        </p:grpSpPr>
        <p:sp>
          <p:nvSpPr>
            <p:cNvPr id="267" name="Google Shape;267;p21"/>
            <p:cNvSpPr/>
            <p:nvPr/>
          </p:nvSpPr>
          <p:spPr>
            <a:xfrm>
              <a:off x="8058150" y="1714500"/>
              <a:ext cx="3552900" cy="3619500"/>
            </a:xfrm>
            <a:prstGeom prst="roundRect">
              <a:avLst>
                <a:gd fmla="val 428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8" name="Google Shape;268;p21"/>
            <p:cNvPicPr preferRelativeResize="0"/>
            <p:nvPr/>
          </p:nvPicPr>
          <p:blipFill rotWithShape="1">
            <a:blip r:embed="rId6">
              <a:alphaModFix/>
            </a:blip>
            <a:srcRect b="28029" l="0" r="0" t="65"/>
            <a:stretch/>
          </p:blipFill>
          <p:spPr>
            <a:xfrm>
              <a:off x="8058150" y="1714500"/>
              <a:ext cx="3552900" cy="1714500"/>
            </a:xfrm>
            <a:prstGeom prst="roundRect">
              <a:avLst>
                <a:gd fmla="val 8888" name="adj"/>
              </a:avLst>
            </a:prstGeom>
            <a:noFill/>
            <a:ln>
              <a:noFill/>
            </a:ln>
          </p:spPr>
        </p:pic>
        <p:sp>
          <p:nvSpPr>
            <p:cNvPr id="269" name="Google Shape;269;p21"/>
            <p:cNvSpPr/>
            <p:nvPr/>
          </p:nvSpPr>
          <p:spPr>
            <a:xfrm>
              <a:off x="8058150" y="3143250"/>
              <a:ext cx="3552900" cy="2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8248650" y="3619500"/>
              <a:ext cx="31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03. Reconexión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8248650" y="4095750"/>
              <a:ext cx="31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Slot de replicación detecta link. </a:t>
              </a:r>
              <a:r>
                <a:rPr b="1" lang="en-US" sz="13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Sincronización automática</a:t>
              </a: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de cambios pendientes.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2"/>
          <p:cNvGrpSpPr/>
          <p:nvPr/>
        </p:nvGrpSpPr>
        <p:grpSpPr>
          <a:xfrm>
            <a:off x="571500" y="571500"/>
            <a:ext cx="11049000" cy="571500"/>
            <a:chOff x="571500" y="571500"/>
            <a:chExt cx="11049000" cy="571500"/>
          </a:xfrm>
        </p:grpSpPr>
        <p:sp>
          <p:nvSpPr>
            <p:cNvPr id="277" name="Google Shape;277;p22"/>
            <p:cNvSpPr/>
            <p:nvPr/>
          </p:nvSpPr>
          <p:spPr>
            <a:xfrm>
              <a:off x="571500" y="571500"/>
              <a:ext cx="57300" cy="5715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762000" y="571500"/>
              <a:ext cx="1085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CONCLUSIONES DE INGENIERÍA</a:t>
              </a:r>
              <a:endParaRPr b="1" sz="3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9" name="Google Shape;279;p22"/>
          <p:cNvGrpSpPr/>
          <p:nvPr/>
        </p:nvGrpSpPr>
        <p:grpSpPr>
          <a:xfrm>
            <a:off x="571500" y="1524000"/>
            <a:ext cx="3429000" cy="3238500"/>
            <a:chOff x="571500" y="1524000"/>
            <a:chExt cx="3429000" cy="3238500"/>
          </a:xfrm>
        </p:grpSpPr>
        <p:sp>
          <p:nvSpPr>
            <p:cNvPr id="280" name="Google Shape;280;p22"/>
            <p:cNvSpPr/>
            <p:nvPr/>
          </p:nvSpPr>
          <p:spPr>
            <a:xfrm>
              <a:off x="571500" y="152400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762000" y="1714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5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465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762000" y="2571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Continuidad Operativa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762000" y="30480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La arquitectura híbrida elimina la dependencia total de internet, vital para servicios médicos de emergencia.</a:t>
              </a:r>
              <a:endParaRPr b="0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4" name="Google Shape;284;p22"/>
          <p:cNvGrpSpPr/>
          <p:nvPr/>
        </p:nvGrpSpPr>
        <p:grpSpPr>
          <a:xfrm>
            <a:off x="4381500" y="1524000"/>
            <a:ext cx="3429000" cy="3238500"/>
            <a:chOff x="4381500" y="1524000"/>
            <a:chExt cx="3429000" cy="3238500"/>
          </a:xfrm>
        </p:grpSpPr>
        <p:sp>
          <p:nvSpPr>
            <p:cNvPr id="285" name="Google Shape;285;p22"/>
            <p:cNvSpPr/>
            <p:nvPr/>
          </p:nvSpPr>
          <p:spPr>
            <a:xfrm>
              <a:off x="4381500" y="152400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4572000" y="1714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5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b="1" sz="465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4572000" y="2571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Escalabilidad Lógica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4572000" y="30480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El uso de WebSockets optimiza el throughput de red al reducir el overhead de cabeceras HTTP tradicionales.</a:t>
              </a:r>
              <a:endParaRPr b="0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9" name="Google Shape;289;p22"/>
          <p:cNvGrpSpPr/>
          <p:nvPr/>
        </p:nvGrpSpPr>
        <p:grpSpPr>
          <a:xfrm>
            <a:off x="8191500" y="1524000"/>
            <a:ext cx="3429000" cy="3238500"/>
            <a:chOff x="8191500" y="1524000"/>
            <a:chExt cx="3429000" cy="3238500"/>
          </a:xfrm>
        </p:grpSpPr>
        <p:sp>
          <p:nvSpPr>
            <p:cNvPr id="290" name="Google Shape;290;p22"/>
            <p:cNvSpPr/>
            <p:nvPr/>
          </p:nvSpPr>
          <p:spPr>
            <a:xfrm>
              <a:off x="8191500" y="1524000"/>
              <a:ext cx="3429000" cy="3238500"/>
            </a:xfrm>
            <a:prstGeom prst="roundRect">
              <a:avLst>
                <a:gd fmla="val 470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 txBox="1"/>
            <p:nvPr/>
          </p:nvSpPr>
          <p:spPr>
            <a:xfrm>
              <a:off x="8382000" y="1714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5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b="1" sz="465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8382000" y="2571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Seguridad Invisible</a:t>
              </a:r>
              <a:endParaRPr b="1" sz="16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8382000" y="304800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Los túneles Zero Trust permiten una comunicación inter-nodo robusta sin exponer superficie de ataque en el perímetro.</a:t>
              </a:r>
              <a:endParaRPr b="0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4" name="Google Shape;294;p22"/>
          <p:cNvGrpSpPr/>
          <p:nvPr/>
        </p:nvGrpSpPr>
        <p:grpSpPr>
          <a:xfrm>
            <a:off x="571500" y="5524500"/>
            <a:ext cx="11049000" cy="571500"/>
            <a:chOff x="571500" y="5524500"/>
            <a:chExt cx="11049000" cy="571500"/>
          </a:xfrm>
        </p:grpSpPr>
        <p:sp>
          <p:nvSpPr>
            <p:cNvPr id="295" name="Google Shape;295;p22"/>
            <p:cNvSpPr/>
            <p:nvPr/>
          </p:nvSpPr>
          <p:spPr>
            <a:xfrm>
              <a:off x="571500" y="5524500"/>
              <a:ext cx="11049000" cy="571500"/>
            </a:xfrm>
            <a:prstGeom prst="roundRect">
              <a:avLst>
                <a:gd fmla="val 50000" name="adj"/>
              </a:avLst>
            </a:prstGeom>
            <a:solidFill>
              <a:srgbClr val="0D948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571500" y="552450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Proyecto Final - Sistemas Distribuidos - 2026</a:t>
              </a:r>
              <a:endParaRPr b="0" sz="14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